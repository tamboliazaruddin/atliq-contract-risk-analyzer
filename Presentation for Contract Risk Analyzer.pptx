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1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69680" y="0"/>
            <a:ext cx="3383280" cy="6858000"/>
          </a:xfrm>
          <a:prstGeom prst="rect">
            <a:avLst/>
          </a:prstGeom>
          <a:solidFill>
            <a:srgbClr val="1F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09760" y="685800"/>
            <a:ext cx="2011680" cy="10058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09760" y="960120"/>
            <a:ext cx="1463040" cy="100584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509760" y="1234440"/>
            <a:ext cx="2377440" cy="100584"/>
          </a:xfrm>
          <a:prstGeom prst="rect">
            <a:avLst/>
          </a:prstGeom>
          <a:solidFill>
            <a:srgbClr val="E6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7223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66D6CF"/>
                </a:solidFill>
                <a:latin typeface="Aptos"/>
              </a:defRPr>
            </a:pPr>
            <a:r>
              <a:t>AI PM CAPSTONE  •  ATLIQ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7498079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3600" b="1" i="0">
                <a:solidFill>
                  <a:srgbClr val="FFFFFF"/>
                </a:solidFill>
                <a:latin typeface="Aptos"/>
              </a:defRPr>
            </a:pPr>
            <a:r>
              <a:t>Contract Risk</a:t>
            </a:r>
          </a:p>
          <a:p>
            <a:pPr algn="l">
              <a:spcAft>
                <a:spcPts val="500"/>
              </a:spcAft>
              <a:defRPr sz="3600" b="1" i="0">
                <a:solidFill>
                  <a:srgbClr val="FFFFFF"/>
                </a:solidFill>
                <a:latin typeface="Aptos"/>
              </a:defRPr>
            </a:pPr>
            <a:r>
              <a:t>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059084"/>
            <a:ext cx="7223760" cy="83356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200" b="0" i="0">
                <a:solidFill>
                  <a:srgbClr val="FFFFFF"/>
                </a:solidFill>
                <a:latin typeface="Aptos"/>
              </a:defRPr>
            </a:pPr>
            <a:r>
              <a:rPr lang="en-US" i="1" dirty="0"/>
              <a:t>Stop Reviewing Every Word,</a:t>
            </a:r>
          </a:p>
          <a:p>
            <a:pPr algn="l">
              <a:spcAft>
                <a:spcPts val="500"/>
              </a:spcAft>
              <a:defRPr sz="2200" b="0" i="0">
                <a:solidFill>
                  <a:srgbClr val="FFFFFF"/>
                </a:solidFill>
                <a:latin typeface="Aptos"/>
              </a:defRPr>
            </a:pPr>
            <a:r>
              <a:rPr lang="en-US" i="1" dirty="0"/>
              <a:t>Start Making Decisions</a:t>
            </a:r>
            <a:endParaRPr i="1" dirty="0"/>
          </a:p>
        </p:txBody>
      </p:sp>
      <p:sp>
        <p:nvSpPr>
          <p:cNvPr id="9" name="TextBox 8"/>
          <p:cNvSpPr txBox="1"/>
          <p:nvPr/>
        </p:nvSpPr>
        <p:spPr>
          <a:xfrm>
            <a:off x="804672" y="4663440"/>
            <a:ext cx="71323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DAE2EE"/>
                </a:solidFill>
                <a:latin typeface="Aptos"/>
              </a:defRPr>
            </a:pPr>
            <a:r>
              <a:t>An evidence-grounded AI copilot to surface risky clauses, retrieve prior commitments and help the reviewer make informed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989320"/>
            <a:ext cx="7223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B7C4D7"/>
                </a:solidFill>
                <a:latin typeface="Aptos"/>
              </a:defRPr>
            </a:pPr>
            <a:r>
              <a:t>Azaruddin Tamboli  •  AI Product Manager  •  PRD v1.0, draft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B7C4D7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191"/>
                </a:solidFill>
                <a:latin typeface="Aptos"/>
              </a:defRPr>
            </a:pPr>
            <a:r>
              <a:t>01 •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2223A"/>
                </a:solidFill>
                <a:latin typeface="Aptos"/>
              </a:defRPr>
            </a:pPr>
            <a:r>
              <a:t>The opportunity: faster first-pass review, without outsourcing judgment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68580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370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Contract Risk Analyzer  |  AI PM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64008" cy="1828800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554480"/>
            <a:ext cx="322783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The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947672"/>
            <a:ext cx="3227832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63040"/>
                </a:solidFill>
                <a:latin typeface="Aptos"/>
              </a:defRPr>
            </a:pPr>
            <a:r>
              <a:t>Karandeep, founder and CEO, reviews and signs contracts while managing the business.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64008" cy="1828800"/>
          </a:xfrm>
          <a:prstGeom prst="rect">
            <a:avLst/>
          </a:prstGeom>
          <a:solidFill>
            <a:srgbClr val="E6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554480"/>
            <a:ext cx="322783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47672"/>
            <a:ext cx="3227832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63040"/>
                </a:solidFill>
                <a:latin typeface="Aptos"/>
              </a:defRPr>
            </a:pPr>
            <a:r>
              <a:t>Manual clause review plus fragmented context across contracts, emails, chats and negotiation notes.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64008" cy="18288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1554480"/>
            <a:ext cx="322783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The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947672"/>
            <a:ext cx="3227832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63040"/>
                </a:solidFill>
                <a:latin typeface="Aptos"/>
              </a:defRPr>
            </a:pPr>
            <a:r>
              <a:t>A review workspace that extracts terms, finds potential risks, retrieves evidence and flags missing checks.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39"/>
            <a:ext cx="25603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3858768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2369BE"/>
                </a:solidFill>
                <a:latin typeface="Aptos"/>
              </a:defRPr>
            </a:pPr>
            <a:r>
              <a:t>3–4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27939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Contracts /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581144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Stakeholder-reported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3749039"/>
            <a:ext cx="25603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75304" y="3858768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009191"/>
                </a:solidFill>
                <a:latin typeface="Aptos"/>
              </a:defRPr>
            </a:pPr>
            <a:r>
              <a:t>4–5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5304" y="427939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NDAs /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75304" y="4581144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Stakeholder-reported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749039"/>
            <a:ext cx="25603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72784" y="3858768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E68F2E"/>
                </a:solidFill>
                <a:latin typeface="Aptos"/>
              </a:defRPr>
            </a:pPr>
            <a:r>
              <a:t>~2 hrs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4" y="427939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Standard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4581144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Manual effort baseline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60" y="3749039"/>
            <a:ext cx="25603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70264" y="3858768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BE4141"/>
                </a:solidFill>
                <a:latin typeface="Aptos"/>
              </a:defRPr>
            </a:pPr>
            <a:r>
              <a:t>6–8 hrs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0264" y="427939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Complex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0264" y="4581144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2–3 passes reported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57800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2223A"/>
                </a:solidFill>
                <a:latin typeface="Aptos"/>
              </a:defRPr>
            </a:pPr>
            <a:r>
              <a:t>Product promise: reduce review effort while preserving traceable evidence, explicit uncertainty and human final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191"/>
                </a:solidFill>
                <a:latin typeface="Aptos"/>
              </a:defRPr>
            </a:pPr>
            <a:r>
              <a:t>02 • PROBLEM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2223A"/>
                </a:solidFill>
                <a:latin typeface="Aptos"/>
              </a:defRPr>
            </a:pPr>
            <a:r>
              <a:t>The cost is not only reading the contract. It is finding the context.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68580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370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Contract Risk Analyzer  |  AI PM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5603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2369BE"/>
                </a:solidFill>
                <a:latin typeface="Aptos"/>
              </a:defRPr>
            </a:pPr>
            <a:r>
              <a:t>7–9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4767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Documents /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249424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Contracts + NDAs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17320"/>
            <a:ext cx="25603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9584" y="1527048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009191"/>
                </a:solidFill>
                <a:latin typeface="Aptos"/>
              </a:defRPr>
            </a:pPr>
            <a:r>
              <a:t>2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194767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Typical first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2249424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Reported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417320"/>
            <a:ext cx="25603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27064" y="1527048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E68F2E"/>
                </a:solidFill>
                <a:latin typeface="Aptos"/>
              </a:defRPr>
            </a:pPr>
            <a:r>
              <a:t>6–8 hrs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194767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Complex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2249424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Often 2–3 passes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1417320"/>
            <a:ext cx="25603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24544" y="1527048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BE4141"/>
                </a:solidFill>
                <a:latin typeface="Aptos"/>
              </a:defRPr>
            </a:pPr>
            <a:r>
              <a:t>1 wk–1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544" y="194767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Queue turnaround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2249424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Elapsed time, not effort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971800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2223A"/>
                </a:solidFill>
                <a:latin typeface="Aptos"/>
              </a:defRPr>
            </a:pPr>
            <a:r>
              <a:t>Today’s review is fragmented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520440"/>
            <a:ext cx="507492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63040"/>
                </a:solidFill>
                <a:latin typeface="Aptos"/>
              </a:defRPr>
            </a:pPr>
            <a:r>
              <a:t>•  Read the incoming contract clause by clause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63040"/>
                </a:solidFill>
                <a:latin typeface="Aptos"/>
              </a:defRPr>
            </a:pPr>
            <a:r>
              <a:t>•  Search past contracts for earlier promises and restrictions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63040"/>
                </a:solidFill>
                <a:latin typeface="Aptos"/>
              </a:defRPr>
            </a:pPr>
            <a:r>
              <a:t>•  Find relevant emails, chats and negotiation notes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63040"/>
                </a:solidFill>
                <a:latin typeface="Aptos"/>
              </a:defRPr>
            </a:pPr>
            <a:r>
              <a:t>•  Check annexures, parties and required agreements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63040"/>
                </a:solidFill>
                <a:latin typeface="Aptos"/>
              </a:defRPr>
            </a:pPr>
            <a:r>
              <a:t>•  Consolidate findings before a decision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971800"/>
            <a:ext cx="5029200" cy="2560320"/>
          </a:xfrm>
          <a:prstGeom prst="roundRect">
            <a:avLst>
              <a:gd name="adj" fmla="val 12000"/>
            </a:avLst>
          </a:prstGeom>
          <a:solidFill>
            <a:srgbClr val="FDF1DE"/>
          </a:solidFill>
          <a:ln>
            <a:solidFill>
              <a:srgbClr val="FD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3246120"/>
            <a:ext cx="4480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2223A"/>
                </a:solidFill>
                <a:latin typeface="Aptos"/>
              </a:defRPr>
            </a:pPr>
            <a:r>
              <a:t>The product hypothesis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794760"/>
            <a:ext cx="438912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263040"/>
                </a:solidFill>
                <a:latin typeface="Aptos"/>
              </a:defRPr>
            </a:pPr>
            <a:r>
              <a:t>If AI assembles the relevant evidence and flags potential issues in one workspace, the reviewer can spend less time searching and more time exercising judgment.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191"/>
                </a:solidFill>
                <a:latin typeface="Aptos"/>
              </a:defRPr>
            </a:pPr>
            <a:r>
              <a:t>03 • DISCOVERY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2223A"/>
                </a:solidFill>
                <a:latin typeface="Aptos"/>
              </a:defRPr>
            </a:pPr>
            <a:r>
              <a:t>Discovery: the reviewer needs context, not a generic red-flag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68580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370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Contract Risk Analyzer  |  AI PM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743200" cy="4297680"/>
          </a:xfrm>
          <a:prstGeom prst="roundRect">
            <a:avLst>
              <a:gd name="adj" fmla="val 12000"/>
            </a:avLst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FFFFFF"/>
                </a:solidFill>
                <a:latin typeface="Aptos"/>
              </a:defRPr>
            </a:pPr>
            <a:r>
              <a:t>Karandeep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21488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D9E4F1"/>
                </a:solidFill>
                <a:latin typeface="Aptos"/>
              </a:defRPr>
            </a:pPr>
            <a:r>
              <a:t>Founder &amp; CEO</a:t>
            </a:r>
          </a:p>
          <a:p>
            <a:pPr algn="l">
              <a:spcAft>
                <a:spcPts val="500"/>
              </a:spcAft>
              <a:defRPr sz="1300" b="1" i="0">
                <a:solidFill>
                  <a:srgbClr val="D9E4F1"/>
                </a:solidFill>
                <a:latin typeface="Aptos"/>
              </a:defRPr>
            </a:pPr>
            <a:r>
              <a:t>Primary contract reviewer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210312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Goal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Make informed decisions quickly without overlooking material risks or prior commitments.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5074920"/>
            <a:ext cx="201168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6696" y="5093207"/>
            <a:ext cx="19385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191"/>
                </a:solidFill>
                <a:latin typeface="Aptos"/>
              </a:defRPr>
            </a:pPr>
            <a:r>
              <a:t>Human signs every contract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1417320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94760" y="1417320"/>
            <a:ext cx="64008" cy="1874519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59352" y="1554480"/>
            <a:ext cx="31363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2223A"/>
                </a:solidFill>
                <a:latin typeface="Aptos"/>
              </a:defRPr>
            </a:pPr>
            <a:r>
              <a:t>Insight 1 • Fragmented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9352" y="1947672"/>
            <a:ext cx="3136392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63040"/>
                </a:solidFill>
                <a:latin typeface="Aptos"/>
              </a:defRPr>
            </a:pPr>
            <a:r>
              <a:t>Relevant commitments may sit in older contracts, emails, chats and negotiation notes.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417320"/>
            <a:ext cx="3749039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52360" y="1417320"/>
            <a:ext cx="64008" cy="1874519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16952" y="1554480"/>
            <a:ext cx="345643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2223A"/>
                </a:solidFill>
                <a:latin typeface="Aptos"/>
              </a:defRPr>
            </a:pPr>
            <a:r>
              <a:t>Insight 2 • No universal checklist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1947672"/>
            <a:ext cx="3456432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63040"/>
                </a:solidFill>
                <a:latin typeface="Aptos"/>
              </a:defRPr>
            </a:pPr>
            <a:r>
              <a:t>The reviewer wants a balanced, win-win contract, not every non-standard clause flagged as bad.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3566160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794760" y="3566160"/>
            <a:ext cx="64008" cy="1874519"/>
          </a:xfrm>
          <a:prstGeom prst="rect">
            <a:avLst/>
          </a:prstGeom>
          <a:solidFill>
            <a:srgbClr val="E6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59352" y="3703320"/>
            <a:ext cx="31363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2223A"/>
                </a:solidFill>
                <a:latin typeface="Aptos"/>
              </a:defRPr>
            </a:pPr>
            <a:r>
              <a:t>Insight 3 • Context changes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4096511"/>
            <a:ext cx="3136392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63040"/>
                </a:solidFill>
                <a:latin typeface="Aptos"/>
              </a:defRPr>
            </a:pPr>
            <a:r>
              <a:t>A new contract may conflict with a prior industry or geographic restriction.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3566160"/>
            <a:ext cx="3749039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52360" y="3566160"/>
            <a:ext cx="64008" cy="1874519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16952" y="3703320"/>
            <a:ext cx="345643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2223A"/>
                </a:solidFill>
                <a:latin typeface="Aptos"/>
              </a:defRPr>
            </a:pPr>
            <a:r>
              <a:t>Insight 4 • Completeness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2" y="4096511"/>
            <a:ext cx="3456432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63040"/>
                </a:solidFill>
                <a:latin typeface="Aptos"/>
              </a:defRPr>
            </a:pPr>
            <a:r>
              <a:t>For applicable healthcare work, verify required BAAs and relevant parties, including freelancers where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191"/>
                </a:solidFill>
                <a:latin typeface="Aptos"/>
              </a:defRPr>
            </a:pPr>
            <a:r>
              <a:t>04 • ROOT-CAUSE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2223A"/>
                </a:solidFill>
                <a:latin typeface="Aptos"/>
              </a:defRPr>
            </a:pPr>
            <a:r>
              <a:t>Five whys: the bottleneck is manual context assembly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68580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370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Contract Risk Analyzer  |  AI PM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472184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2369BE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49047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463040"/>
            <a:ext cx="2926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Review takes too long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463040"/>
            <a:ext cx="6629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The reviewer reads, searches and reconciles manually.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03704"/>
            <a:ext cx="106984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" y="2304288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2322576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295144"/>
            <a:ext cx="2926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Relevant evidence is scattered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295144"/>
            <a:ext cx="6629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Prior terms live across different files and conversations.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35808"/>
            <a:ext cx="106984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31363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68F2E"/>
          </a:solidFill>
          <a:ln>
            <a:solidFill>
              <a:srgbClr val="E68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315468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27248"/>
            <a:ext cx="2926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There is no single review workspace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127248"/>
            <a:ext cx="6629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Terms, risks, historical context and missing docs are not assembled together.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67912"/>
            <a:ext cx="106984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8680" y="3968496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3986784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959352"/>
            <a:ext cx="2926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Generic checklists miss business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959352"/>
            <a:ext cx="6629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Risk depends on approved policy and prior commitments, not just clause labels.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00016"/>
            <a:ext cx="106984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8680" y="480060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7824" y="4818888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791456"/>
            <a:ext cx="2926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The process depends on human 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791456"/>
            <a:ext cx="6629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No system links a proposed term to the relevant historical evidence.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09191"/>
                </a:solidFill>
                <a:latin typeface="Aptos"/>
              </a:defRPr>
            </a:pPr>
            <a:r>
              <a:t>Root cause → evidence and context are not assembled into one traceable review 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191"/>
                </a:solidFill>
                <a:latin typeface="Aptos"/>
              </a:defRPr>
            </a:pPr>
            <a:r>
              <a:t>05 • OPPORTUNITY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2223A"/>
                </a:solidFill>
                <a:latin typeface="Aptos"/>
              </a:defRPr>
            </a:pPr>
            <a:r>
              <a:t>Choose the workflow where AI adds leverage and humans keep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68580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370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Contract Risk Analyzer  |  AI PM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2223A"/>
                </a:solidFill>
                <a:latin typeface="Aptos"/>
              </a:defRPr>
            </a:pPr>
            <a:r>
              <a:t>Prioritise for value, feasibility and cost of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832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1234440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11679"/>
            <a:ext cx="309067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Build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04872"/>
            <a:ext cx="3090672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Contract extraction + evidence-grounded clause findings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3832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874519"/>
            <a:ext cx="64008" cy="123444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2011679"/>
            <a:ext cx="309067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Build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404872"/>
            <a:ext cx="3090672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Historical commitment retrieval and conflict flags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874519"/>
            <a:ext cx="33832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79" y="1874519"/>
            <a:ext cx="64008" cy="1234440"/>
          </a:xfrm>
          <a:prstGeom prst="rect">
            <a:avLst/>
          </a:prstGeom>
          <a:solidFill>
            <a:srgbClr val="E6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19871" y="2011679"/>
            <a:ext cx="309067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Build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1" y="2404872"/>
            <a:ext cx="3090672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Completeness checks + consolidated review 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474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2223A"/>
                </a:solidFill>
                <a:latin typeface="Aptos"/>
              </a:defRPr>
            </a:pPr>
            <a:r>
              <a:t>Defer until validated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31920"/>
            <a:ext cx="502920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63040"/>
                </a:solidFill>
                <a:latin typeface="Aptos"/>
              </a:defRPr>
            </a:pPr>
            <a:r>
              <a:t>•  Autonomous approve, reject or sign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63040"/>
                </a:solidFill>
                <a:latin typeface="Aptos"/>
              </a:defRPr>
            </a:pPr>
            <a:r>
              <a:t>•  Automatic negotiation or redlining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63040"/>
                </a:solidFill>
                <a:latin typeface="Aptos"/>
              </a:defRPr>
            </a:pPr>
            <a:r>
              <a:t>•  Universal legal risk scoring without an approved policy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63040"/>
                </a:solidFill>
                <a:latin typeface="Aptos"/>
              </a:defRPr>
            </a:pPr>
            <a:r>
              <a:t>•  Live integrations before data access and security are approved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520440"/>
            <a:ext cx="4937760" cy="1965960"/>
          </a:xfrm>
          <a:prstGeom prst="roundRect">
            <a:avLst>
              <a:gd name="adj" fmla="val 12000"/>
            </a:avLst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3794760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2223A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251960"/>
            <a:ext cx="425196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63040"/>
                </a:solidFill>
                <a:latin typeface="Aptos"/>
              </a:defRPr>
            </a:pPr>
            <a:r>
              <a:t>Use deterministic rules for predictable checks; use retrieval and LLMs where interpretation and summarisation are needed. Always show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191"/>
                </a:solidFill>
                <a:latin typeface="Aptos"/>
              </a:defRPr>
            </a:pPr>
            <a:r>
              <a:t>06 •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2223A"/>
                </a:solidFill>
                <a:latin typeface="Aptos"/>
              </a:defRPr>
            </a:pPr>
            <a:r>
              <a:t>One review workspace, four core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68580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370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Contract Risk Analyzer  |  AI PM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600200"/>
            <a:ext cx="548640" cy="292608"/>
          </a:xfrm>
          <a:prstGeom prst="roundRect">
            <a:avLst>
              <a:gd name="adj" fmla="val 12000"/>
            </a:avLst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" y="1618488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2369BE"/>
                </a:solidFill>
                <a:latin typeface="Aptos"/>
              </a:defRPr>
            </a:pPr>
            <a:r>
              <a:t>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572768"/>
            <a:ext cx="39776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2223A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11680"/>
            <a:ext cx="38862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63040"/>
                </a:solidFill>
                <a:latin typeface="Aptos"/>
              </a:defRPr>
            </a:pPr>
            <a:r>
              <a:t>Extract parties, value, scope, dates, obligations, termination and key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35808"/>
            <a:ext cx="5257800" cy="73152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52578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92240" y="1600200"/>
            <a:ext cx="548640" cy="292608"/>
          </a:xfrm>
          <a:prstGeom prst="roundRect">
            <a:avLst>
              <a:gd name="adj" fmla="val 12000"/>
            </a:avLst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28816" y="1618488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2369BE"/>
                </a:solidFill>
                <a:latin typeface="Aptos"/>
              </a:defRPr>
            </a:pPr>
            <a:r>
              <a:t>F2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572768"/>
            <a:ext cx="39776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2223A"/>
                </a:solidFill>
                <a:latin typeface="Aptos"/>
              </a:defRPr>
            </a:pPr>
            <a:r>
              <a:t>Find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011680"/>
            <a:ext cx="38862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63040"/>
                </a:solidFill>
                <a:latin typeface="Aptos"/>
              </a:defRPr>
            </a:pPr>
            <a:r>
              <a:t>Flag potentially risky clauses with category, severity, explanation and source location.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035808"/>
            <a:ext cx="5257800" cy="73152"/>
          </a:xfrm>
          <a:prstGeom prst="rect">
            <a:avLst/>
          </a:prstGeom>
          <a:solidFill>
            <a:srgbClr val="E6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85800" y="3474720"/>
            <a:ext cx="52578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68680" y="3657600"/>
            <a:ext cx="548640" cy="292608"/>
          </a:xfrm>
          <a:prstGeom prst="roundRect">
            <a:avLst>
              <a:gd name="adj" fmla="val 12000"/>
            </a:avLst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" y="3675887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2369BE"/>
                </a:solidFill>
                <a:latin typeface="Aptos"/>
              </a:defRPr>
            </a:pPr>
            <a:r>
              <a:t>F3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630168"/>
            <a:ext cx="39776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2223A"/>
                </a:solidFill>
                <a:latin typeface="Aptos"/>
              </a:defRPr>
            </a:pPr>
            <a:r>
              <a:t>Recall commitments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069080"/>
            <a:ext cx="38862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63040"/>
                </a:solidFill>
                <a:latin typeface="Aptos"/>
              </a:defRPr>
            </a:pPr>
            <a:r>
              <a:t>Retrieve relevant signed contracts, emails and notes; compare prior restrictions with the proposed deal.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093208"/>
            <a:ext cx="5257800" cy="7315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09360" y="3474720"/>
            <a:ext cx="52578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92240" y="3657600"/>
            <a:ext cx="548640" cy="292608"/>
          </a:xfrm>
          <a:prstGeom prst="roundRect">
            <a:avLst>
              <a:gd name="adj" fmla="val 12000"/>
            </a:avLst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28816" y="3675887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2369BE"/>
                </a:solidFill>
                <a:latin typeface="Aptos"/>
              </a:defRPr>
            </a:pPr>
            <a:r>
              <a:t>F4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630168"/>
            <a:ext cx="39776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2223A"/>
                </a:solidFill>
                <a:latin typeface="Aptos"/>
              </a:defRPr>
            </a:pPr>
            <a:r>
              <a:t>Verify &amp; 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069080"/>
            <a:ext cx="38862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63040"/>
                </a:solidFill>
                <a:latin typeface="Aptos"/>
              </a:defRPr>
            </a:pPr>
            <a:r>
              <a:t>Check configured requirements, show uncertainty, let reviewer confirm/dismiss/flag and record decisions.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5093208"/>
            <a:ext cx="5257800" cy="73152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09191"/>
                </a:solidFill>
                <a:latin typeface="Aptos"/>
              </a:defRPr>
            </a:pPr>
            <a:r>
              <a:t>Operating principle: the system proposes findings; the authorised human owns the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191"/>
                </a:solidFill>
                <a:latin typeface="Aptos"/>
              </a:defRPr>
            </a:pPr>
            <a:r>
              <a:t>07 •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2223A"/>
                </a:solidFill>
                <a:latin typeface="Aptos"/>
              </a:defRPr>
            </a:pPr>
            <a:r>
              <a:t>From upload to a decision with evidence at every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68580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370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Contract Risk Analyzer  |  AI PM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153619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04088" y="1993392"/>
            <a:ext cx="36576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01168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1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423160"/>
            <a:ext cx="13350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788920"/>
            <a:ext cx="13350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637082"/>
                </a:solidFill>
                <a:latin typeface="Aptos"/>
              </a:defRPr>
            </a:pPr>
            <a:r>
              <a:t>Validate file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30552" y="2587752"/>
            <a:ext cx="109728" cy="0"/>
          </a:xfrm>
          <a:prstGeom prst="line">
            <a:avLst/>
          </a:prstGeom>
          <a:ln w="25400">
            <a:solidFill>
              <a:srgbClr val="00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40279" y="1874519"/>
            <a:ext cx="153619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350008" y="1993392"/>
            <a:ext cx="36576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86584" y="201168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1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0008" y="2423160"/>
            <a:ext cx="13350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0008" y="2788920"/>
            <a:ext cx="13350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637082"/>
                </a:solidFill>
                <a:latin typeface="Aptos"/>
              </a:defRPr>
            </a:pPr>
            <a:r>
              <a:t>Terms + locations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76472" y="2587752"/>
            <a:ext cx="109728" cy="0"/>
          </a:xfrm>
          <a:prstGeom prst="line">
            <a:avLst/>
          </a:prstGeom>
          <a:ln w="25400">
            <a:solidFill>
              <a:srgbClr val="00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86200" y="1874519"/>
            <a:ext cx="153619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995928" y="1993392"/>
            <a:ext cx="36576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32504" y="201168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1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5928" y="2423160"/>
            <a:ext cx="13350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Retrieve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5928" y="2788920"/>
            <a:ext cx="13350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637082"/>
                </a:solidFill>
                <a:latin typeface="Aptos"/>
              </a:defRPr>
            </a:pPr>
            <a:r>
              <a:t>Historical sources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22392" y="2587752"/>
            <a:ext cx="109728" cy="0"/>
          </a:xfrm>
          <a:prstGeom prst="line">
            <a:avLst/>
          </a:prstGeom>
          <a:ln w="25400">
            <a:solidFill>
              <a:srgbClr val="00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532120" y="1874519"/>
            <a:ext cx="153619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641848" y="1993392"/>
            <a:ext cx="36576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78424" y="201168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1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2423160"/>
            <a:ext cx="13350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1848" y="2788920"/>
            <a:ext cx="13350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637082"/>
                </a:solidFill>
                <a:latin typeface="Aptos"/>
              </a:defRPr>
            </a:pPr>
            <a:r>
              <a:t>Risks + conflicts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8312" y="2587752"/>
            <a:ext cx="109728" cy="0"/>
          </a:xfrm>
          <a:prstGeom prst="line">
            <a:avLst/>
          </a:prstGeom>
          <a:ln w="25400">
            <a:solidFill>
              <a:srgbClr val="00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178040" y="1874519"/>
            <a:ext cx="153619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287768" y="1993392"/>
            <a:ext cx="36576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24344" y="201168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1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7768" y="2423160"/>
            <a:ext cx="13350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7768" y="2788920"/>
            <a:ext cx="13350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637082"/>
                </a:solidFill>
                <a:latin typeface="Aptos"/>
              </a:defRPr>
            </a:pPr>
            <a:r>
              <a:t>Completeness + rules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714232" y="2587752"/>
            <a:ext cx="109727" cy="0"/>
          </a:xfrm>
          <a:prstGeom prst="line">
            <a:avLst/>
          </a:prstGeom>
          <a:ln w="25400">
            <a:solidFill>
              <a:srgbClr val="00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823960" y="1874519"/>
            <a:ext cx="153619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933688" y="1993392"/>
            <a:ext cx="36576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70263" y="201168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1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3688" y="2423160"/>
            <a:ext cx="13350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3688" y="2788920"/>
            <a:ext cx="13350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637082"/>
                </a:solidFill>
                <a:latin typeface="Aptos"/>
              </a:defRPr>
            </a:pPr>
            <a:r>
              <a:t>Evidence + uncertainty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360152" y="2587752"/>
            <a:ext cx="109728" cy="0"/>
          </a:xfrm>
          <a:prstGeom prst="line">
            <a:avLst/>
          </a:prstGeom>
          <a:ln w="25400">
            <a:solidFill>
              <a:srgbClr val="00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469880" y="1874519"/>
            <a:ext cx="153619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579607" y="1993392"/>
            <a:ext cx="36576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616183" y="201168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191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79607" y="2423160"/>
            <a:ext cx="13350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79607" y="2788920"/>
            <a:ext cx="13350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637082"/>
                </a:solidFill>
                <a:latin typeface="Aptos"/>
              </a:defRPr>
            </a:pPr>
            <a:r>
              <a:t>Human decision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3977639"/>
            <a:ext cx="5074920" cy="1325880"/>
          </a:xfrm>
          <a:prstGeom prst="roundRect">
            <a:avLst>
              <a:gd name="adj" fmla="val 12000"/>
            </a:avLst>
          </a:prstGeom>
          <a:solidFill>
            <a:srgbClr val="FAE7E6"/>
          </a:solidFill>
          <a:ln>
            <a:solidFill>
              <a:srgbClr val="FA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5840" y="4206240"/>
            <a:ext cx="4526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BE4141"/>
                </a:solidFill>
                <a:latin typeface="Aptos"/>
              </a:defRPr>
            </a:pPr>
            <a:r>
              <a:t>If evidence is missing or weak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4617720"/>
            <a:ext cx="4480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63040"/>
                </a:solidFill>
                <a:latin typeface="Aptos"/>
              </a:defRPr>
            </a:pPr>
            <a:r>
              <a:t>Mark the check incomplete or uncertain. Never present it as passed.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63640" y="3977639"/>
            <a:ext cx="5074920" cy="1325880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92240" y="4206240"/>
            <a:ext cx="4526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009191"/>
                </a:solidFill>
                <a:latin typeface="Aptos"/>
              </a:defRPr>
            </a:pPr>
            <a:r>
              <a:t>If revision is needed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617720"/>
            <a:ext cx="4480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63040"/>
                </a:solidFill>
                <a:latin typeface="Aptos"/>
              </a:defRPr>
            </a:pPr>
            <a:r>
              <a:t>Upload the revised contract and re-review the full document, not only changed clauses.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191"/>
                </a:solidFill>
                <a:latin typeface="Aptos"/>
              </a:defRPr>
            </a:pPr>
            <a:r>
              <a:t>08 • PRODUCT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2223A"/>
                </a:solidFill>
                <a:latin typeface="Aptos"/>
              </a:defRPr>
            </a:pPr>
            <a:r>
              <a:t>Walkthrough: review the clause and its evidence side by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68580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3708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Contract Risk Analyzer  |  AI PM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79"/>
            <a:ext cx="10972800" cy="390448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10972800" cy="438912"/>
          </a:xfrm>
          <a:prstGeom prst="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08176"/>
            <a:ext cx="3840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CONTRACT REVIEW  /  SAMPLE CLIENT AGREEMENT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399032"/>
            <a:ext cx="1234440" cy="292608"/>
          </a:xfrm>
          <a:prstGeom prst="roundRect">
            <a:avLst>
              <a:gd name="adj" fmla="val 12000"/>
            </a:avLst>
          </a:prstGeom>
          <a:solidFill>
            <a:srgbClr val="FDF1DE"/>
          </a:solidFill>
          <a:ln>
            <a:solidFill>
              <a:srgbClr val="FD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12096" y="1417320"/>
            <a:ext cx="116128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E68F2E"/>
                </a:solidFill>
                <a:latin typeface="Aptos"/>
              </a:defRPr>
            </a:pPr>
            <a:r>
              <a:t>DEMO DATA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957CB4A-B10B-74AF-728D-C25657194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38" y="1887820"/>
            <a:ext cx="4705004" cy="319310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80D6953-E557-BDD8-7FC6-E352BAB1B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19" y="1951830"/>
            <a:ext cx="5434337" cy="31931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191"/>
                </a:solidFill>
                <a:latin typeface="Aptos"/>
              </a:defRPr>
            </a:pPr>
            <a:r>
              <a:t>09 • AI AND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2223A"/>
                </a:solidFill>
                <a:latin typeface="Aptos"/>
              </a:defRPr>
            </a:pPr>
            <a:r>
              <a:t>Rules where possible, retrieval and LLMs where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68580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370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Contract Risk Analyzer  |  AI PM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91639"/>
            <a:ext cx="1783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Input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66543"/>
            <a:ext cx="1783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637082"/>
                </a:solidFill>
                <a:latin typeface="Aptos"/>
              </a:defRPr>
            </a:pPr>
            <a:r>
              <a:t>PDF / DOCX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011680"/>
            <a:ext cx="320040" cy="0"/>
          </a:xfrm>
          <a:prstGeom prst="line">
            <a:avLst/>
          </a:prstGeom>
          <a:ln w="25400">
            <a:solidFill>
              <a:srgbClr val="00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55448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1800" y="1691639"/>
            <a:ext cx="1783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Parse &amp; 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066543"/>
            <a:ext cx="1783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637082"/>
                </a:solidFill>
                <a:latin typeface="Aptos"/>
              </a:defRPr>
            </a:pPr>
            <a:r>
              <a:t>Text + page refs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46320" y="2011680"/>
            <a:ext cx="320040" cy="0"/>
          </a:xfrm>
          <a:prstGeom prst="line">
            <a:avLst/>
          </a:prstGeom>
          <a:ln w="25400">
            <a:solidFill>
              <a:srgbClr val="00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155448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800" y="1691639"/>
            <a:ext cx="1783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Retrieve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066543"/>
            <a:ext cx="1783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637082"/>
                </a:solidFill>
                <a:latin typeface="Aptos"/>
              </a:defRPr>
            </a:pPr>
            <a:r>
              <a:t>Authorised sources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0" y="2011680"/>
            <a:ext cx="320040" cy="0"/>
          </a:xfrm>
          <a:prstGeom prst="line">
            <a:avLst/>
          </a:prstGeom>
          <a:ln w="25400">
            <a:solidFill>
              <a:srgbClr val="00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52360" y="155448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1691639"/>
            <a:ext cx="1783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066543"/>
            <a:ext cx="1783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637082"/>
                </a:solidFill>
                <a:latin typeface="Aptos"/>
              </a:defRPr>
            </a:pPr>
            <a:r>
              <a:t>LLM + rule checks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18320" y="2011680"/>
            <a:ext cx="320040" cy="0"/>
          </a:xfrm>
          <a:prstGeom prst="line">
            <a:avLst/>
          </a:prstGeom>
          <a:ln w="25400">
            <a:solidFill>
              <a:srgbClr val="00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38360" y="15544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29800" y="1691639"/>
            <a:ext cx="1645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066543"/>
            <a:ext cx="1645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637082"/>
                </a:solidFill>
                <a:latin typeface="Aptos"/>
              </a:defRPr>
            </a:pPr>
            <a:r>
              <a:t>Evidence gates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154680"/>
            <a:ext cx="4800600" cy="1554480"/>
          </a:xfrm>
          <a:prstGeom prst="roundRect">
            <a:avLst>
              <a:gd name="adj" fmla="val 12000"/>
            </a:avLst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8720" y="3401568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369BE"/>
                </a:solidFill>
                <a:latin typeface="Aptos"/>
              </a:defRPr>
            </a:pPr>
            <a:r>
              <a:t>Use code / rules for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794760"/>
            <a:ext cx="4160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•  Required-field checks and configurable rules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•  Status, permissions, audit events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154680"/>
            <a:ext cx="4800600" cy="1554480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3401568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009191"/>
                </a:solidFill>
                <a:latin typeface="Aptos"/>
              </a:defRPr>
            </a:pPr>
            <a:r>
              <a:t>Use retrieval + LLM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794760"/>
            <a:ext cx="4160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•  Clause interpretation and summaries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•  Finding relevant prior commitments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191"/>
                </a:solidFill>
                <a:latin typeface="Aptos"/>
              </a:defRPr>
            </a:pPr>
            <a:r>
              <a:t>10 •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2223A"/>
                </a:solidFill>
                <a:latin typeface="Aptos"/>
              </a:defRPr>
            </a:pPr>
            <a:r>
              <a:t>Measure time saved only if risk-detection quality holds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68580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370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Contract Risk Analyzer  |  AI PM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5603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009191"/>
                </a:solidFill>
                <a:latin typeface="Aptos"/>
              </a:defRPr>
            </a:pPr>
            <a:r>
              <a:t>−50%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Median human review effort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249424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Proposed North Star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417320"/>
            <a:ext cx="25603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75304" y="1527048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2369BE"/>
                </a:solidFill>
                <a:latin typeface="Aptos"/>
              </a:defRPr>
            </a:pPr>
            <a:r>
              <a:t>&lt; 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194767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First-pass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249424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AI processing 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17320"/>
            <a:ext cx="25603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72784" y="1527048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E68F2E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194767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Configured checks statused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2249424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Complete / flagged / incomplete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417320"/>
            <a:ext cx="25603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70264" y="1527048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2A895B"/>
                </a:solidFill>
                <a:latin typeface="Aptos"/>
              </a:defRPr>
            </a:pPr>
            <a:r>
              <a:t>≥ 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0264" y="194767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2223A"/>
                </a:solidFill>
                <a:latin typeface="Aptos"/>
              </a:defRPr>
            </a:pPr>
            <a:r>
              <a:t>Reviewer acceptance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4" y="2249424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Proposed pilot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97180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2223A"/>
                </a:solidFill>
                <a:latin typeface="Aptos"/>
              </a:defRPr>
            </a:pPr>
            <a:r>
              <a:t>Quality gates before 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74720"/>
            <a:ext cx="50292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•  Evidence accuracy: ≥95% of evaluated findings traceable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•  Risk category/severity agreement: ≥85%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•  Historical conflict recall: ≥90%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•  False positives: ≤20% on labelled evaluation set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•  Uncertainty/incomplete-case handling: ≥95%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154680"/>
            <a:ext cx="4937760" cy="2011680"/>
          </a:xfrm>
          <a:prstGeom prst="roundRect">
            <a:avLst>
              <a:gd name="adj" fmla="val 12000"/>
            </a:avLst>
          </a:prstGeom>
          <a:solidFill>
            <a:srgbClr val="FDF1DE"/>
          </a:solidFill>
          <a:ln>
            <a:solidFill>
              <a:srgbClr val="FD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3429000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Measure two clocks separately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931920"/>
            <a:ext cx="4251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63040"/>
                </a:solidFill>
                <a:latin typeface="Aptos"/>
              </a:defRPr>
            </a:pPr>
            <a:r>
              <a:t>Human effort: standard review ~2 hours; complex review ~6–8 hours. Queue turnaround: reported as 1 week to 1 month. Establish a measured pilot baseline before claiming improvement.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191"/>
                </a:solidFill>
                <a:latin typeface="Aptos"/>
              </a:defRPr>
            </a:pPr>
            <a:r>
              <a:t>11 • EVALUATION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2223A"/>
                </a:solidFill>
                <a:latin typeface="Aptos"/>
              </a:defRPr>
            </a:pPr>
            <a:r>
              <a:t>A demo is not proof: evaluate against labelled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68580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370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Contract Risk Analyzer  |  AI PM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481328"/>
            <a:ext cx="3291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63040"/>
                </a:solidFill>
                <a:latin typeface="Aptos"/>
              </a:defRPr>
            </a:pPr>
            <a:r>
              <a:t>Parties, dates, value, obligations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481328"/>
            <a:ext cx="4983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637082"/>
                </a:solidFill>
                <a:latin typeface="Aptos"/>
              </a:defRPr>
            </a:pPr>
            <a:r>
              <a:t>Field-level accuracy against labelled examples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75688"/>
            <a:ext cx="10698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18541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Risk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85416"/>
            <a:ext cx="3291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63040"/>
                </a:solidFill>
                <a:latin typeface="Aptos"/>
              </a:defRPr>
            </a:pPr>
            <a:r>
              <a:t>Known risky and acceptable clauses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185416"/>
            <a:ext cx="4983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637082"/>
                </a:solidFill>
                <a:latin typeface="Aptos"/>
              </a:defRPr>
            </a:pPr>
            <a:r>
              <a:t>Recall, precision / false positives, severity agreement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79776"/>
            <a:ext cx="10698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88950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Historical conflicts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889504"/>
            <a:ext cx="3291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63040"/>
                </a:solidFill>
                <a:latin typeface="Aptos"/>
              </a:defRPr>
            </a:pPr>
            <a:r>
              <a:t>Prior restrictions vs proposed terms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889504"/>
            <a:ext cx="4983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637082"/>
                </a:solidFill>
                <a:latin typeface="Aptos"/>
              </a:defRPr>
            </a:pPr>
            <a:r>
              <a:t>Conflict recall; source status and relevance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83864"/>
            <a:ext cx="10698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59359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Evidence grounding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593592"/>
            <a:ext cx="3291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63040"/>
                </a:solidFill>
                <a:latin typeface="Aptos"/>
              </a:defRPr>
            </a:pPr>
            <a:r>
              <a:t>Quoted clause and historical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593592"/>
            <a:ext cx="4983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637082"/>
                </a:solidFill>
                <a:latin typeface="Aptos"/>
              </a:defRPr>
            </a:pPr>
            <a:r>
              <a:t>Citation correctness; unsupported finding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87952"/>
            <a:ext cx="10698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Completeness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297680"/>
            <a:ext cx="3291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63040"/>
                </a:solidFill>
                <a:latin typeface="Aptos"/>
              </a:defRPr>
            </a:pPr>
            <a:r>
              <a:t>Missing annexure, BAA or relevant party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297680"/>
            <a:ext cx="4983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637082"/>
                </a:solidFill>
                <a:latin typeface="Aptos"/>
              </a:defRPr>
            </a:pPr>
            <a:r>
              <a:t>Correctly flagged incomplete/uncertain cases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92040"/>
            <a:ext cx="10698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00176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2223A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001768"/>
            <a:ext cx="3291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63040"/>
                </a:solidFill>
                <a:latin typeface="Aptos"/>
              </a:defRPr>
            </a:pPr>
            <a:r>
              <a:t>Unreadable files, extraction/retrieval failures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001768"/>
            <a:ext cx="4983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637082"/>
                </a:solidFill>
                <a:latin typeface="Aptos"/>
              </a:defRPr>
            </a:pPr>
            <a:r>
              <a:t>Visible failure states; no silent clean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191"/>
                </a:solidFill>
                <a:latin typeface="Aptos"/>
              </a:defRPr>
            </a:pPr>
            <a:r>
              <a:t>12 • RISK &amp;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2223A"/>
                </a:solidFill>
                <a:latin typeface="Aptos"/>
              </a:defRPr>
            </a:pPr>
            <a:r>
              <a:t>Highest risks, and the guardrail for 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68580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3708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Contract Risk Analyzer  |  AI PM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53312"/>
            <a:ext cx="106984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1508760"/>
            <a:ext cx="118872" cy="292608"/>
          </a:xfrm>
          <a:prstGeom prst="roundRect">
            <a:avLst>
              <a:gd name="adj" fmla="val 12000"/>
            </a:avLst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27048"/>
            <a:ext cx="45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BE4141"/>
                </a:solidFill>
                <a:latin typeface="Aptos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453896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2223A"/>
                </a:solidFill>
                <a:latin typeface="Aptos"/>
              </a:defRPr>
            </a:pPr>
            <a:r>
              <a:t>Hallucinated clause or commitment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444752"/>
            <a:ext cx="6537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63040"/>
                </a:solidFill>
                <a:latin typeface="Aptos"/>
              </a:defRPr>
            </a:pPr>
            <a:r>
              <a:t>Require traceable source spans; withhold unsupported findings.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03120"/>
            <a:ext cx="106984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6112" y="2258568"/>
            <a:ext cx="118872" cy="292608"/>
          </a:xfrm>
          <a:prstGeom prst="roundRect">
            <a:avLst>
              <a:gd name="adj" fmla="val 12000"/>
            </a:avLst>
          </a:prstGeom>
          <a:solidFill>
            <a:srgbClr val="E68F2E"/>
          </a:solidFill>
          <a:ln>
            <a:solidFill>
              <a:srgbClr val="E68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276856"/>
            <a:ext cx="45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E68F2E"/>
                </a:solidFill>
                <a:latin typeface="Aptos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203703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2223A"/>
                </a:solidFill>
                <a:latin typeface="Aptos"/>
              </a:defRPr>
            </a:pPr>
            <a:r>
              <a:t>Historical conflict treated as a breach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94560"/>
            <a:ext cx="6537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63040"/>
                </a:solidFill>
                <a:latin typeface="Aptos"/>
              </a:defRPr>
            </a:pPr>
            <a:r>
              <a:t>Label as potential conflict; show both sources and agreement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52928"/>
            <a:ext cx="106984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6112" y="3008376"/>
            <a:ext cx="118872" cy="292608"/>
          </a:xfrm>
          <a:prstGeom prst="roundRect">
            <a:avLst>
              <a:gd name="adj" fmla="val 12000"/>
            </a:avLst>
          </a:prstGeom>
          <a:solidFill>
            <a:srgbClr val="2369BE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026664"/>
            <a:ext cx="45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2369BE"/>
                </a:solidFill>
                <a:latin typeface="Aptos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2953512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2223A"/>
                </a:solidFill>
                <a:latin typeface="Aptos"/>
              </a:defRPr>
            </a:pPr>
            <a:r>
              <a:t>Draft / superseded agreement used as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944368"/>
            <a:ext cx="6537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63040"/>
                </a:solidFill>
                <a:latin typeface="Aptos"/>
              </a:defRPr>
            </a:pPr>
            <a:r>
              <a:t>Track source type, status and date; distinguish signed, draft and superseded.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02736"/>
            <a:ext cx="106984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96112" y="3758184"/>
            <a:ext cx="118872" cy="292608"/>
          </a:xfrm>
          <a:prstGeom prst="roundRect">
            <a:avLst>
              <a:gd name="adj" fmla="val 12000"/>
            </a:avLst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3776472"/>
            <a:ext cx="45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191"/>
                </a:solidFill>
                <a:latin typeface="Aptos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370332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2223A"/>
                </a:solidFill>
                <a:latin typeface="Aptos"/>
              </a:defRPr>
            </a:pPr>
            <a:r>
              <a:t>Missing evidence shown as passed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694176"/>
            <a:ext cx="6537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63040"/>
                </a:solidFill>
                <a:latin typeface="Aptos"/>
              </a:defRPr>
            </a:pPr>
            <a:r>
              <a:t>Every configured check must be completed, flagged or incomplete.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352544"/>
            <a:ext cx="106984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96112" y="4507992"/>
            <a:ext cx="118872" cy="292608"/>
          </a:xfrm>
          <a:prstGeom prst="roundRect">
            <a:avLst>
              <a:gd name="adj" fmla="val 12000"/>
            </a:avLst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" y="4526279"/>
            <a:ext cx="45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BE4141"/>
                </a:solidFill>
                <a:latin typeface="Aptos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4453128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2223A"/>
                </a:solidFill>
                <a:latin typeface="Aptos"/>
              </a:defRPr>
            </a:pPr>
            <a:r>
              <a:t>Sensitive contract data exposed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443983"/>
            <a:ext cx="6537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63040"/>
                </a:solidFill>
                <a:latin typeface="Aptos"/>
              </a:defRPr>
            </a:pPr>
            <a:r>
              <a:t>Use authorised sample data for prototype; validate access, retention and provider terms before real data.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102352"/>
            <a:ext cx="106984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96112" y="5257800"/>
            <a:ext cx="118872" cy="292608"/>
          </a:xfrm>
          <a:prstGeom prst="roundRect">
            <a:avLst>
              <a:gd name="adj" fmla="val 12000"/>
            </a:avLst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276088"/>
            <a:ext cx="45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12223A"/>
                </a:solidFill>
                <a:latin typeface="Aptos"/>
              </a:defRPr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88720" y="5202936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2223A"/>
                </a:solidFill>
                <a:latin typeface="Aptos"/>
              </a:defRPr>
            </a:pPr>
            <a:r>
              <a:t>AI makes final legal 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5193792"/>
            <a:ext cx="6537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63040"/>
                </a:solidFill>
                <a:latin typeface="Aptos"/>
              </a:defRPr>
            </a:pPr>
            <a:r>
              <a:t>No autonomous approval, rejection or signing; human decision and audit trail required.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989320"/>
            <a:ext cx="10332720" cy="292608"/>
          </a:xfrm>
          <a:prstGeom prst="roundRect">
            <a:avLst>
              <a:gd name="adj" fmla="val 12000"/>
            </a:avLst>
          </a:prstGeom>
          <a:solidFill>
            <a:srgbClr val="FAE7E6"/>
          </a:solidFill>
          <a:ln>
            <a:solidFill>
              <a:srgbClr val="FA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" y="6007608"/>
            <a:ext cx="9966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BE4141"/>
                </a:solidFill>
                <a:latin typeface="Aptos"/>
              </a:defRPr>
            </a:pPr>
            <a:r>
              <a:t>Kill switch: any data leak, unsupported material claim or critical known-risk miss pauses the pilot.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191"/>
                </a:solidFill>
                <a:latin typeface="Aptos"/>
              </a:defRPr>
            </a:pPr>
            <a:r>
              <a:t>13 • ROLLOUT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2223A"/>
                </a:solidFill>
                <a:latin typeface="Aptos"/>
              </a:defRPr>
            </a:pPr>
            <a:r>
              <a:t>Earn trust in stages; do not jump from prototype to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68580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3708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Contract Risk Analyzer  |  AI PM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78608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1828800"/>
            <a:ext cx="777240" cy="292608"/>
          </a:xfrm>
          <a:prstGeom prst="roundRect">
            <a:avLst>
              <a:gd name="adj" fmla="val 12000"/>
            </a:avLst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47088"/>
            <a:ext cx="70408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2369BE"/>
                </a:solidFill>
                <a:latin typeface="Aptos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04288"/>
            <a:ext cx="2194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Synthetic-data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35808"/>
            <a:ext cx="2212848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Build UI, upload flow, extraction and report. No real contracts.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24528"/>
            <a:ext cx="21945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09191"/>
                </a:solidFill>
                <a:latin typeface="Aptos"/>
              </a:defRPr>
            </a:pPr>
            <a:r>
              <a:t>Gate: workflow works end-to-end.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3246120"/>
            <a:ext cx="274320" cy="0"/>
          </a:xfrm>
          <a:prstGeom prst="line">
            <a:avLst/>
          </a:prstGeom>
          <a:ln w="25400">
            <a:solidFill>
              <a:srgbClr val="00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84448" y="1645920"/>
            <a:ext cx="2578608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49039" y="1828800"/>
            <a:ext cx="777240" cy="292608"/>
          </a:xfrm>
          <a:prstGeom prst="roundRect">
            <a:avLst>
              <a:gd name="adj" fmla="val 12000"/>
            </a:avLst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85615" y="1847088"/>
            <a:ext cx="70408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2369BE"/>
                </a:solidFill>
                <a:latin typeface="Aptos"/>
              </a:defRPr>
            </a:pPr>
            <a: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304288"/>
            <a:ext cx="2194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Offline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035808"/>
            <a:ext cx="2212848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Test labelled risks, historical conflicts, missing evidence and failure cases.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224528"/>
            <a:ext cx="21945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09191"/>
                </a:solidFill>
                <a:latin typeface="Aptos"/>
              </a:defRPr>
            </a:pPr>
            <a:r>
              <a:t>Gate: quality thresholds met.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63056" y="3246120"/>
            <a:ext cx="274320" cy="0"/>
          </a:xfrm>
          <a:prstGeom prst="line">
            <a:avLst/>
          </a:prstGeom>
          <a:ln w="25400">
            <a:solidFill>
              <a:srgbClr val="00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37376" y="1645920"/>
            <a:ext cx="2578608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601968" y="1828800"/>
            <a:ext cx="777240" cy="292608"/>
          </a:xfrm>
          <a:prstGeom prst="roundRect">
            <a:avLst>
              <a:gd name="adj" fmla="val 12000"/>
            </a:avLst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38544" y="1847088"/>
            <a:ext cx="70408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2369BE"/>
                </a:solidFill>
                <a:latin typeface="Aptos"/>
              </a:defRPr>
            </a:pPr>
            <a: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2304288"/>
            <a:ext cx="2194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Shadow 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3035808"/>
            <a:ext cx="2212848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Authorised reviewers compare AI report with manual review; no decisions automated.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224528"/>
            <a:ext cx="21945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09191"/>
                </a:solidFill>
                <a:latin typeface="Aptos"/>
              </a:defRPr>
            </a:pPr>
            <a:r>
              <a:t>Gate: quality and usefulness validated.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15984" y="3246120"/>
            <a:ext cx="274320" cy="0"/>
          </a:xfrm>
          <a:prstGeom prst="line">
            <a:avLst/>
          </a:prstGeom>
          <a:ln w="25400">
            <a:solidFill>
              <a:srgbClr val="00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90304" y="1645920"/>
            <a:ext cx="2578608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54896" y="1828800"/>
            <a:ext cx="777240" cy="292608"/>
          </a:xfrm>
          <a:prstGeom prst="roundRect">
            <a:avLst>
              <a:gd name="adj" fmla="val 12000"/>
            </a:avLst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91472" y="1847088"/>
            <a:ext cx="70408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2369BE"/>
                </a:solidFill>
                <a:latin typeface="Aptos"/>
              </a:defRPr>
            </a:pPr>
            <a:r>
              <a:t>Phase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896" y="2304288"/>
            <a:ext cx="2194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2223A"/>
                </a:solidFill>
                <a:latin typeface="Aptos"/>
              </a:defRPr>
            </a:pPr>
            <a:r>
              <a:t>Controlled rollout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4896" y="3035808"/>
            <a:ext cx="2212848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Approved access, audit logging, monitoring and feedback loop.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4896" y="4224528"/>
            <a:ext cx="21945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09191"/>
                </a:solidFill>
                <a:latin typeface="Aptos"/>
              </a:defRPr>
            </a:pPr>
            <a:r>
              <a:t>Gate: security/privacy approval + zero guardrail breaches.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rPr dirty="0"/>
              <a:t>Production integrations, live repositories and external AI-provider use remain out of scope until approved.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191"/>
                </a:solidFill>
                <a:latin typeface="Aptos"/>
              </a:defRPr>
            </a:pPr>
            <a:r>
              <a:t>14 • FEASIBILITY &amp; OPEN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12223A"/>
                </a:solidFill>
                <a:latin typeface="Aptos"/>
              </a:defRPr>
            </a:pPr>
            <a:r>
              <a:t>Cost and assumptions: validate before promising 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685800" cy="45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3708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37082"/>
                </a:solidFill>
                <a:latin typeface="Aptos"/>
              </a:defRPr>
            </a:pPr>
            <a:r>
              <a:t>Contract Risk Analyzer  |  AI PM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4008" cy="1828800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554480"/>
            <a:ext cx="31363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Known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47672"/>
            <a:ext cx="3136392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7–9 docs/month; standard review ~2h; complex review ~6–8h; queue turnaround ~1 week to 1 month.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64008" cy="18288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554480"/>
            <a:ext cx="31363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Cost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947672"/>
            <a:ext cx="3136392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Estimate inference, embeddings/indexing, hosting/storage, security and human verification separately.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64008" cy="1828800"/>
          </a:xfrm>
          <a:prstGeom prst="rect">
            <a:avLst/>
          </a:prstGeom>
          <a:solidFill>
            <a:srgbClr val="E68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554480"/>
            <a:ext cx="31363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2223A"/>
                </a:solidFill>
                <a:latin typeface="Aptos"/>
              </a:defRPr>
            </a:pPr>
            <a:r>
              <a:t>ROI discipline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47672"/>
            <a:ext cx="3136392" cy="12070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63040"/>
                </a:solidFill>
                <a:latin typeface="Aptos"/>
              </a:defRPr>
            </a:pPr>
            <a:r>
              <a:t>Calculate time saved only after pilot. Do not convert reported $5,000 spend into savings until its meaning is confirmed.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94360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66D6CF"/>
                </a:solidFill>
                <a:latin typeface="Aptos"/>
              </a:defRPr>
            </a:pPr>
            <a:r>
              <a:t>15 •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98755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t>Make the first review faster.</a:t>
            </a:r>
          </a:p>
          <a:p>
            <a:pPr algn="l">
              <a:spcAft>
                <a:spcPts val="500"/>
              </a:spcAft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t>Make every finding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9601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DAE2EE"/>
                </a:solidFill>
                <a:latin typeface="Aptos"/>
              </a:defRPr>
            </a:pPr>
            <a:r>
              <a:t>The MVP succeeds when it reduces manual search effort without hiding uncertainty or weakening human judgment.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977639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5256" y="3995927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1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986783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Build a working end-to-end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72000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" y="4590288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1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581144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Evaluate against labelled, representative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166359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5184647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091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175503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Run a shadow pilot before live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8046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B7C4D7"/>
                </a:solidFill>
                <a:latin typeface="Aptos"/>
              </a:defRPr>
            </a:pPr>
            <a:r>
              <a:t>Contract Risk Analyzer  •  AtliQ Technologies  •  Draft for AI PM capstone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37960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B7C4D7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5c8251e0-caf7-4748-8ff8-439e3f55cda8}" enabled="1" method="Standard" siteId="{975d243a-4e65-46df-b77f-8f73a893ca2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1687</Words>
  <Application>Microsoft Office PowerPoint</Application>
  <PresentationFormat>Widescreen</PresentationFormat>
  <Paragraphs>289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Tamboli, Azaruddin</cp:lastModifiedBy>
  <cp:revision>11</cp:revision>
  <dcterms:created xsi:type="dcterms:W3CDTF">2013-01-27T09:14:16Z</dcterms:created>
  <dcterms:modified xsi:type="dcterms:W3CDTF">2026-10-14T18:17:05Z</dcterms:modified>
  <cp:category/>
</cp:coreProperties>
</file>